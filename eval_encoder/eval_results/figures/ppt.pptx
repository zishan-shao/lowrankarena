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2" r:id="rId4"/>
    <p:sldId id="257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3D8FC-347E-4B8E-9C50-27E8D5FEDE3F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F7681-F7EB-483A-9DE2-14E424CD4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19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这次我主要汇报 </a:t>
            </a:r>
            <a:r>
              <a:rPr lang="en-US" altLang="zh-CN" dirty="0" err="1"/>
              <a:t>FlashSVD</a:t>
            </a:r>
            <a:r>
              <a:rPr lang="en-US" altLang="zh-CN" dirty="0"/>
              <a:t> </a:t>
            </a:r>
            <a:r>
              <a:rPr lang="zh-CN" altLang="en-US" dirty="0"/>
              <a:t>在系统层面的 </a:t>
            </a:r>
            <a:r>
              <a:rPr lang="en-US" altLang="zh-CN" dirty="0"/>
              <a:t>benchmark</a:t>
            </a:r>
            <a:r>
              <a:rPr lang="zh-CN" altLang="en-US" dirty="0"/>
              <a:t>，以及我完善的测试 </a:t>
            </a:r>
            <a:r>
              <a:rPr lang="en-US" altLang="zh-CN" dirty="0"/>
              <a:t>pipeline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F7681-F7EB-483A-9DE2-14E424CD46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585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参数压缩只改变 </a:t>
            </a:r>
            <a:r>
              <a:rPr lang="en-US" altLang="zh-CN" dirty="0"/>
              <a:t>model size</a:t>
            </a:r>
            <a:r>
              <a:rPr lang="zh-CN" altLang="en-US" dirty="0"/>
              <a:t>，真正决定峰值显存的是 </a:t>
            </a:r>
            <a:r>
              <a:rPr lang="en-US" altLang="zh-CN" dirty="0"/>
              <a:t>attention activation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F7681-F7EB-483A-9DE2-14E424CD46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286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这里对比是完全公平的，只改变 </a:t>
            </a:r>
            <a:r>
              <a:rPr lang="en-US" altLang="zh-CN" dirty="0"/>
              <a:t>backend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F7681-F7EB-483A-9DE2-14E424CD46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561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三档 </a:t>
            </a:r>
            <a:r>
              <a:rPr lang="en-US" altLang="zh-CN" dirty="0"/>
              <a:t>kernel </a:t>
            </a:r>
            <a:r>
              <a:rPr lang="zh-CN" altLang="en-US" dirty="0"/>
              <a:t>消除不同来源的 </a:t>
            </a:r>
            <a:r>
              <a:rPr lang="en-US" altLang="zh-CN" dirty="0"/>
              <a:t>activation </a:t>
            </a:r>
            <a:r>
              <a:rPr lang="zh-CN" altLang="en-US" dirty="0"/>
              <a:t>开销。</a:t>
            </a:r>
            <a:r>
              <a:rPr lang="en-US" altLang="zh-CN" dirty="0" err="1"/>
              <a:t>FlashSVD</a:t>
            </a:r>
            <a:r>
              <a:rPr lang="en-US" altLang="zh-CN" dirty="0"/>
              <a:t> </a:t>
            </a:r>
            <a:r>
              <a:rPr lang="zh-CN" altLang="en-US" dirty="0"/>
              <a:t>低于 </a:t>
            </a:r>
            <a:r>
              <a:rPr lang="en-US" altLang="zh-CN" dirty="0"/>
              <a:t>dense baseline</a:t>
            </a:r>
            <a:r>
              <a:rPr lang="zh-CN" altLang="en-US" dirty="0"/>
              <a:t>。</a:t>
            </a:r>
            <a:r>
              <a:rPr lang="en-US" altLang="zh-CN" dirty="0" err="1"/>
              <a:t>FlashSVD</a:t>
            </a:r>
            <a:r>
              <a:rPr lang="en-US" altLang="zh-CN" dirty="0"/>
              <a:t> eliminates O(N²) attention matrix materialization.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F7681-F7EB-483A-9DE2-14E424CD46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544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FlashSVD</a:t>
            </a:r>
            <a:r>
              <a:rPr lang="en-US" altLang="zh-CN" dirty="0"/>
              <a:t> </a:t>
            </a:r>
            <a:r>
              <a:rPr lang="zh-CN" altLang="en-US" dirty="0"/>
              <a:t>基本保持 </a:t>
            </a:r>
            <a:r>
              <a:rPr lang="en-US" altLang="zh-CN" dirty="0"/>
              <a:t>SDPA </a:t>
            </a:r>
            <a:r>
              <a:rPr lang="zh-CN" altLang="en-US" dirty="0"/>
              <a:t>吞吐，但显存再降 </a:t>
            </a:r>
            <a:r>
              <a:rPr lang="en-US" altLang="zh-CN" dirty="0"/>
              <a:t>55%</a:t>
            </a:r>
            <a:r>
              <a:rPr lang="zh-CN" altLang="en-US" dirty="0"/>
              <a:t>。</a:t>
            </a:r>
            <a:r>
              <a:rPr lang="en-US" altLang="zh-CN" dirty="0"/>
              <a:t>Flash shifts memory–throughput Pareto frontier.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F7681-F7EB-483A-9DE2-14E424CD46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404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Backend change contributes 8× more memory saving than parameter compression.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F7681-F7EB-483A-9DE2-14E424CD46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223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F106D-3D04-DAD7-F271-0FBBCFF95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8BAEDE-98DB-790F-FCE7-F2AD7ECF6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D4F4BE-1A63-93CB-8720-310207AE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D281BB-799D-E2F0-C790-D3998E59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C3CE44-81F8-1F64-1ED7-F79E3118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18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5680F-9D4A-81B1-D665-80DAD1A0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3C3E94-3373-E90D-C6EE-C2783490C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16A289-2126-C247-FD25-44833B23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BB8AAD-BC24-E4A3-EC50-14026805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295F4B-57CC-ECED-3CD6-37449BAA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33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E4654-DD62-42DC-36DD-DCE555F8B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64B475-B472-8084-B619-3596152FD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AD8953-AE27-BC54-4C24-6C43AD43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BDC6FC-FC69-F488-4FA3-ABF1BAF1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67E442-7DBF-A3C5-359E-27069CAC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276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B45BA-D493-E82F-B4E6-EE73E128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D000D4-3110-9873-8C0A-9E6BD2E8B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BE9A05-99B6-1EEB-2711-BEDB573D1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1EAC03-5FE3-A8D1-40F6-8B15ABB9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3A789D-8B68-9320-CEBE-E9792EA6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2CF2E1-8118-9FD5-435D-8BB46D97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01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F5A27-ABB2-B079-9A25-992801A1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C0B6E4-771E-8ABD-9EEE-E75D3F021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443EEB-FEF8-B228-2A84-C31A5A7AF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ADEBA8-3B17-BBB2-3402-7345EAF50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DD530B-1055-28C2-4C96-0BB8BC7A7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9C310D-C1C6-AED5-EF36-38A968022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E2E86F-4ECB-E29C-77EF-AB12CBAC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07DEFD-4C64-947F-F0D5-6A5B41E0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26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0F34D-E15E-39C5-BD76-A59EBC56B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727A0-11B8-A385-0596-A4BE31B3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228A2C-93FA-4313-00BC-7CC969357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47DC5F-664A-1125-6F07-C09040B5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34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599099-1236-8EA3-3755-BB2BE5FE5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ECF3EF-0292-A6B5-6992-90DD64C5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5A3217-F9F5-51E9-55A6-FD45CEDA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64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67A0A-2FDA-124F-FE78-7711320A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97363-6204-83AB-7892-5F93C38DD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B91AF0-5406-2F7D-C615-309BACC8A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0CB332-B6AA-2D15-35D1-3CB3F1B5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4CEDF5-A93D-A2CB-E1AE-E04C4C52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7284D3-4A2A-75C9-DAB6-E5841B9A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56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34EF6-67E0-FDB2-A4F6-F5AD6E50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D7798F-08C9-59A6-E443-46BD12504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61DF3D-2360-7D20-0E6C-82FC0BF8E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19FD41-C441-E424-3316-99D9E5FC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A927A-0583-2101-1FB5-806D3593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DD0B4D-784C-8E68-BE03-50F43D6C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74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6B47B-C3E7-D2FE-6267-325968A04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1570B4-9A3D-CBED-2403-AED139C21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7FE249-299E-3CF8-4764-66FB58EFC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DCF748-75EE-1D03-E56A-205D8CD6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A6A63-9F43-F102-B945-F47F5F0AB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2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59F832-3E9A-9A58-F344-C4299217C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2DF776-A7A9-5A3C-434D-2861CE543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B0DFA-AF07-B257-4450-8617563D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D2A7D0-07CA-399E-1183-67B7B6D1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0C3E9D-7265-955A-A8CA-3E89E8E2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13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F7C57-6F43-C718-C395-8D358AC1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6BF2E8-2BDF-107C-5FA5-2CFF2B4DB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D75210-A8E5-D82E-44FE-B41C56374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F5557-A996-4AC5-968F-EDC1C18B4500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C3C5C1-A36D-6630-8DC8-FAB550C7F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7D0186-1CCD-EEFF-D60E-C7F96C4E6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FDB39-9F50-44BF-95F4-0B9AD8CB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742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2F723-2D43-B7B5-5FC4-16DECD298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565" y="1122363"/>
            <a:ext cx="11370365" cy="2387600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FlashSVD</a:t>
            </a:r>
            <a:r>
              <a:rPr lang="en-US" altLang="zh-CN" dirty="0"/>
              <a:t>: System-level Benchmark &amp; Kernel-tier Analysis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9687AD-56E3-AEE3-EBBC-F7293AA74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700" dirty="0">
                <a:latin typeface="Arial" panose="020B0604020202020204" pitchFamily="34" charset="0"/>
              </a:rPr>
              <a:t>Low-rank compression × fused attention kernel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700" dirty="0">
                <a:latin typeface="Arial" panose="020B0604020202020204" pitchFamily="34" charset="0"/>
              </a:rPr>
              <a:t>Focus: inference memory &amp; throughput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700" dirty="0">
                <a:latin typeface="Arial" panose="020B0604020202020204" pitchFamily="34" charset="0"/>
              </a:rPr>
              <a:t>8 GLUE tasks · seq/batch/dtype scaling</a:t>
            </a:r>
            <a:endParaRPr lang="en-US" altLang="zh-CN" sz="1700" dirty="0"/>
          </a:p>
          <a:p>
            <a:r>
              <a:rPr lang="en-US" altLang="zh-CN" dirty="0"/>
              <a:t>Wenhao Wu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434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AF72A-8A95-AFB2-61CC-A91D773A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Motivation: Why Backend Matters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481429-D2AC-2536-61E9-A54760B578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45603"/>
            <a:ext cx="7130478" cy="2196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1️⃣ Compression ≠ Memory Solution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2️⃣ Activation dominates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3️⃣ Activation complexity determined by kernel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599E3F-3D52-8DAC-F46C-EF9D80244121}"/>
              </a:ext>
            </a:extLst>
          </p:cNvPr>
          <p:cNvSpPr txBox="1"/>
          <p:nvPr/>
        </p:nvSpPr>
        <p:spPr>
          <a:xfrm>
            <a:off x="838200" y="4284027"/>
            <a:ext cx="6094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Compression reduces parameter memory (−37%)</a:t>
            </a:r>
          </a:p>
          <a:p>
            <a:r>
              <a:rPr lang="zh-CN" altLang="en-US" dirty="0"/>
              <a:t>But peak inference memory is activation-dominated</a:t>
            </a:r>
          </a:p>
          <a:p>
            <a:r>
              <a:rPr lang="zh-CN" altLang="en-US" dirty="0"/>
              <a:t>At seq=512: Activation ≈ 6.6× parameter memory</a:t>
            </a:r>
          </a:p>
          <a:p>
            <a:r>
              <a:rPr lang="zh-CN" altLang="en-US" dirty="0"/>
              <a:t>Therefore: backend implementation determines true memory complexity</a:t>
            </a:r>
          </a:p>
        </p:txBody>
      </p:sp>
    </p:spTree>
    <p:extLst>
      <p:ext uri="{BB962C8B-B14F-4D97-AF65-F5344CB8AC3E}">
        <p14:creationId xmlns:p14="http://schemas.microsoft.com/office/powerpoint/2010/main" val="2112327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3425A-82B4-4633-6BDC-3E3DCCE6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Fairness &amp; Baseline Clarification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BF2370-D1B4-C936-E6C3-6DD9E4F43D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07835"/>
            <a:ext cx="9321783" cy="3674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Identical compressed weights across backends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Same rank, same parameters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≈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69.3M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Difference = kernel implementation only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Dense baseline uses PyTorch SDPA (no logits materialization)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 recompression between backends (identical weights).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0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E7C46-D333-371D-2BD4-7B9AC311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kernel-tier Memory (Single Config)</a:t>
            </a:r>
            <a:endParaRPr lang="zh-CN" altLang="en-US" dirty="0"/>
          </a:p>
        </p:txBody>
      </p:sp>
      <p:pic>
        <p:nvPicPr>
          <p:cNvPr id="5" name="内容占位符 4" descr="图表, 瀑布图&#10;&#10;AI 生成的内容可能不正确。">
            <a:extLst>
              <a:ext uri="{FF2B5EF4-FFF2-40B4-BE49-F238E27FC236}">
                <a16:creationId xmlns:a16="http://schemas.microsoft.com/office/drawing/2014/main" id="{270B5E46-B174-2D89-00C0-54650C670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08" y="1690688"/>
            <a:ext cx="5736992" cy="384086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C513CD6-3557-65A2-2100-CB2E6C6AA37C}"/>
              </a:ext>
            </a:extLst>
          </p:cNvPr>
          <p:cNvSpPr txBox="1"/>
          <p:nvPr/>
        </p:nvSpPr>
        <p:spPr>
          <a:xfrm>
            <a:off x="6400801" y="1559844"/>
            <a:ext cx="5701701" cy="3727362"/>
          </a:xfrm>
          <a:prstGeom prst="rect">
            <a:avLst/>
          </a:prstGeom>
          <a:noFill/>
        </p:spPr>
        <p:txBody>
          <a:bodyPr wrap="square" bIns="36000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seq=512 · bs=32 · fp32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Naive (einsum): 2004 MB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Naive (SDPA): 1566 MB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FlashSVD: 708 MB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−65% vs einsum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−55% vs SDPA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FlashSVD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reduces activation overhead below dense baseline.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DBFABD-8E57-57A6-7482-16773830AA9F}"/>
              </a:ext>
            </a:extLst>
          </p:cNvPr>
          <p:cNvSpPr txBox="1"/>
          <p:nvPr/>
        </p:nvSpPr>
        <p:spPr>
          <a:xfrm>
            <a:off x="5543656" y="5797346"/>
            <a:ext cx="6558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u="sng" dirty="0" err="1"/>
              <a:t>FlashSVD</a:t>
            </a:r>
            <a:r>
              <a:rPr lang="en-US" altLang="zh-CN" b="1" i="1" u="sng" dirty="0"/>
              <a:t> eliminates O(N²) attention matrix materialization.</a:t>
            </a:r>
            <a:endParaRPr lang="zh-CN" alt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177007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8CDEA-04BC-F199-F3CF-9FC0CB65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Kernel-tier Throughput</a:t>
            </a:r>
            <a:endParaRPr lang="zh-CN" altLang="en-US" dirty="0"/>
          </a:p>
        </p:txBody>
      </p:sp>
      <p:pic>
        <p:nvPicPr>
          <p:cNvPr id="5" name="内容占位符 4" descr="图表, 条形图&#10;&#10;AI 生成的内容可能不正确。">
            <a:extLst>
              <a:ext uri="{FF2B5EF4-FFF2-40B4-BE49-F238E27FC236}">
                <a16:creationId xmlns:a16="http://schemas.microsoft.com/office/drawing/2014/main" id="{7B8BE1E7-D293-5194-417A-368519107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84" y="1690688"/>
            <a:ext cx="6177086" cy="399626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966187E-0681-2CBC-9B15-345C7290E717}"/>
              </a:ext>
            </a:extLst>
          </p:cNvPr>
          <p:cNvSpPr txBox="1"/>
          <p:nvPr/>
        </p:nvSpPr>
        <p:spPr>
          <a:xfrm>
            <a:off x="6466970" y="1769710"/>
            <a:ext cx="5725029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SDPA: +77% vs einsum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FlashSVD: −5% vs SDPA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Memory saving without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throughput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loss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Flash ≈ SDPA speed, but far lower memory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Flash avoids memory-bound regime by eliminating logits materialization.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3E4264-BCC8-E927-06C9-4057B6E79623}"/>
              </a:ext>
            </a:extLst>
          </p:cNvPr>
          <p:cNvSpPr txBox="1"/>
          <p:nvPr/>
        </p:nvSpPr>
        <p:spPr>
          <a:xfrm>
            <a:off x="6466970" y="47952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u="sng" dirty="0"/>
              <a:t>Flash shifts memory–throughput Pareto frontier.</a:t>
            </a:r>
            <a:endParaRPr lang="zh-CN" alt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374660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DBE10-1998-349A-E23D-D6F71B2D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Breakdown</a:t>
            </a:r>
            <a:endParaRPr lang="zh-CN" altLang="en-US" dirty="0"/>
          </a:p>
        </p:txBody>
      </p:sp>
      <p:pic>
        <p:nvPicPr>
          <p:cNvPr id="7" name="内容占位符 6" descr="图片包含 图表&#10;&#10;AI 生成的内容可能不正确。">
            <a:extLst>
              <a:ext uri="{FF2B5EF4-FFF2-40B4-BE49-F238E27FC236}">
                <a16:creationId xmlns:a16="http://schemas.microsoft.com/office/drawing/2014/main" id="{B02A10CF-7483-C2E4-38D1-0C8E73949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477696"/>
            <a:ext cx="6059311" cy="39026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DDFE00D-C2E3-4EC2-B9F0-3A020E14AC78}"/>
              </a:ext>
            </a:extLst>
          </p:cNvPr>
          <p:cNvSpPr txBox="1"/>
          <p:nvPr/>
        </p:nvSpPr>
        <p:spPr>
          <a:xfrm>
            <a:off x="6234665" y="1477696"/>
            <a:ext cx="5957335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Param memory: 418 → 265 MB (−37%)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Activation memory: 1739 MB (Naive)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Flash activation: 443 MB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−1296 MB from activation reduction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Activation / Param ≈ 6.6×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23E98A-4122-6AE1-90C0-6E108C0861C7}"/>
              </a:ext>
            </a:extLst>
          </p:cNvPr>
          <p:cNvSpPr txBox="1"/>
          <p:nvPr/>
        </p:nvSpPr>
        <p:spPr>
          <a:xfrm>
            <a:off x="6096000" y="48313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u="sng" dirty="0"/>
              <a:t>Kernel-level optimization contributes substantially more memory reduction than parameter compression alone.</a:t>
            </a:r>
            <a:endParaRPr lang="zh-CN" alt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3190370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AD0EA-771E-3C3A-64E0-3CF0C514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Sequence Length Scaling</a:t>
            </a:r>
            <a:endParaRPr lang="zh-CN" altLang="en-US" dirty="0"/>
          </a:p>
        </p:txBody>
      </p:sp>
      <p:pic>
        <p:nvPicPr>
          <p:cNvPr id="5" name="内容占位符 4" descr="图表, 折线图&#10;&#10;AI 生成的内容可能不正确。">
            <a:extLst>
              <a:ext uri="{FF2B5EF4-FFF2-40B4-BE49-F238E27FC236}">
                <a16:creationId xmlns:a16="http://schemas.microsoft.com/office/drawing/2014/main" id="{D835CC75-F6C1-F4EB-A781-AFC5C06F0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95" y="1690688"/>
            <a:ext cx="5033583" cy="41459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A2922CF-06D9-EF10-BEDC-CC08FFA87B36}"/>
              </a:ext>
            </a:extLst>
          </p:cNvPr>
          <p:cNvSpPr txBox="1"/>
          <p:nvPr/>
        </p:nvSpPr>
        <p:spPr>
          <a:xfrm>
            <a:off x="6083448" y="1843788"/>
            <a:ext cx="5531557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seq=128: −32%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seq=256: −49%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seq=512: −65%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Absolute saving: 181 → 1296 MB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Memory gap widens super-linearly with 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7F6C11-4093-902C-0A1A-D358E21D1F91}"/>
              </a:ext>
            </a:extLst>
          </p:cNvPr>
          <p:cNvSpPr txBox="1"/>
          <p:nvPr/>
        </p:nvSpPr>
        <p:spPr>
          <a:xfrm>
            <a:off x="576995" y="5960534"/>
            <a:ext cx="4501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Reduction grows with sequence length, consistent with removing O(N²) </a:t>
            </a:r>
            <a:r>
              <a:rPr lang="en-US" altLang="zh-CN"/>
              <a:t>term.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A71933-111E-8D99-3103-7B9007D6297E}"/>
              </a:ext>
            </a:extLst>
          </p:cNvPr>
          <p:cNvSpPr txBox="1"/>
          <p:nvPr/>
        </p:nvSpPr>
        <p:spPr>
          <a:xfrm>
            <a:off x="5994400" y="5467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u="sng" dirty="0"/>
              <a:t>Advantage grows as N increases (attacks O(N²) term).</a:t>
            </a:r>
            <a:endParaRPr lang="zh-CN" alt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381745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67B2E-BB79-3772-041B-41273CA3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Throughput Scaling</a:t>
            </a:r>
            <a:endParaRPr lang="zh-CN" altLang="en-US" dirty="0"/>
          </a:p>
        </p:txBody>
      </p:sp>
      <p:pic>
        <p:nvPicPr>
          <p:cNvPr id="5" name="内容占位符 4" descr="图表, 折线图&#10;&#10;AI 生成的内容可能不正确。">
            <a:extLst>
              <a:ext uri="{FF2B5EF4-FFF2-40B4-BE49-F238E27FC236}">
                <a16:creationId xmlns:a16="http://schemas.microsoft.com/office/drawing/2014/main" id="{4F253729-C15F-F3C2-654F-29A98FC27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8244"/>
            <a:ext cx="4912093" cy="40333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80119C-9F20-3AC9-A675-69F355A89888}"/>
              </a:ext>
            </a:extLst>
          </p:cNvPr>
          <p:cNvSpPr txBox="1"/>
          <p:nvPr/>
        </p:nvSpPr>
        <p:spPr>
          <a:xfrm>
            <a:off x="6096000" y="1690688"/>
            <a:ext cx="5705820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Speedup ×1.10 → ×1.72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Einsum degrades quadratically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≈ SDPA speed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Scaling consistent with theory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A2D177-A066-F578-CE46-DF6D242AF58E}"/>
              </a:ext>
            </a:extLst>
          </p:cNvPr>
          <p:cNvSpPr txBox="1"/>
          <p:nvPr/>
        </p:nvSpPr>
        <p:spPr>
          <a:xfrm>
            <a:off x="6097794" y="4324138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u="sng" dirty="0"/>
              <a:t>Flash remains compute-bound while </a:t>
            </a:r>
            <a:r>
              <a:rPr lang="en-US" altLang="zh-CN" b="1" i="1" u="sng" dirty="0" err="1"/>
              <a:t>einsum</a:t>
            </a:r>
            <a:r>
              <a:rPr lang="en-US" altLang="zh-CN" b="1" i="1" u="sng" dirty="0"/>
              <a:t> becomes memory-bound.</a:t>
            </a:r>
            <a:endParaRPr lang="zh-CN" alt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762459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144BA-1F64-AAFD-627F-E64B4144F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dtype</a:t>
            </a:r>
            <a:r>
              <a:rPr lang="en-US" altLang="zh-CN" dirty="0"/>
              <a:t> × Backend Scaling</a:t>
            </a:r>
            <a:endParaRPr lang="zh-CN" altLang="en-US" dirty="0"/>
          </a:p>
        </p:txBody>
      </p:sp>
      <p:pic>
        <p:nvPicPr>
          <p:cNvPr id="5" name="内容占位符 4" descr="图表, 折线图&#10;&#10;AI 生成的内容可能不正确。">
            <a:extLst>
              <a:ext uri="{FF2B5EF4-FFF2-40B4-BE49-F238E27FC236}">
                <a16:creationId xmlns:a16="http://schemas.microsoft.com/office/drawing/2014/main" id="{70251818-28B1-4C35-2A83-BF6DF21E3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912093" cy="40333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876CA7-DE10-A457-DB4A-6A0A1A60C10C}"/>
              </a:ext>
            </a:extLst>
          </p:cNvPr>
          <p:cNvSpPr txBox="1"/>
          <p:nvPr/>
        </p:nvSpPr>
        <p:spPr>
          <a:xfrm>
            <a:off x="5978181" y="1690688"/>
            <a:ext cx="55026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fp32 vs bf16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bf16 halves memory (linear scaling)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 structural advantage preserved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FlashSVD + bf16 = deployment-optimal configuration</a:t>
            </a:r>
          </a:p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1216DC-DB10-6327-5A8F-684F5EA1BE63}"/>
              </a:ext>
            </a:extLst>
          </p:cNvPr>
          <p:cNvSpPr txBox="1"/>
          <p:nvPr/>
        </p:nvSpPr>
        <p:spPr>
          <a:xfrm>
            <a:off x="5978181" y="45715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u="sng" dirty="0" err="1"/>
              <a:t>dtype</a:t>
            </a:r>
            <a:r>
              <a:rPr lang="en-US" altLang="zh-CN" b="1" i="1" u="sng" dirty="0"/>
              <a:t> is multiplicative factor; backend is structural factor.</a:t>
            </a:r>
            <a:endParaRPr lang="zh-CN" alt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787680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75EB8-A97B-B64C-9094-78CA89A5B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Accuracy–Memory Pareto</a:t>
            </a:r>
            <a:endParaRPr lang="zh-CN" altLang="en-US" dirty="0"/>
          </a:p>
        </p:txBody>
      </p:sp>
      <p:pic>
        <p:nvPicPr>
          <p:cNvPr id="5" name="内容占位符 4" descr="图表, 散点图&#10;&#10;AI 生成的内容可能不正确。">
            <a:extLst>
              <a:ext uri="{FF2B5EF4-FFF2-40B4-BE49-F238E27FC236}">
                <a16:creationId xmlns:a16="http://schemas.microsoft.com/office/drawing/2014/main" id="{7FDB23D5-ECA3-06D2-9102-8572F8A0E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724663" cy="38865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C8DE3F1-0865-FF83-55C3-C222D0A7BC00}"/>
              </a:ext>
            </a:extLst>
          </p:cNvPr>
          <p:cNvSpPr txBox="1"/>
          <p:nvPr/>
        </p:nvSpPr>
        <p:spPr>
          <a:xfrm>
            <a:off x="6562862" y="1871471"/>
            <a:ext cx="55049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Same accuracy across backend (Δ = 0)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Flash shifts all methods left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Backend strictly dominates naive in memory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Backend = free dimension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Backend strictly dominates naive across all compression methods.</a:t>
            </a:r>
            <a:endParaRPr lang="zh-CN" altLang="zh-CN" sz="2000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1014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2AB37-6C79-51B6-9D37-E90C6B22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Per-head vs Full-matrix</a:t>
            </a:r>
            <a:endParaRPr lang="zh-CN" altLang="en-US" dirty="0"/>
          </a:p>
        </p:txBody>
      </p:sp>
      <p:pic>
        <p:nvPicPr>
          <p:cNvPr id="5" name="内容占位符 4" descr="图表, 条形图&#10;&#10;AI 生成的内容可能不正确。">
            <a:extLst>
              <a:ext uri="{FF2B5EF4-FFF2-40B4-BE49-F238E27FC236}">
                <a16:creationId xmlns:a16="http://schemas.microsoft.com/office/drawing/2014/main" id="{6AC591B1-7160-A291-0999-9939B931A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88" y="2336813"/>
            <a:ext cx="10515600" cy="438643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6415CAB-6534-B085-C5A7-CE8C8DAE117E}"/>
              </a:ext>
            </a:extLst>
          </p:cNvPr>
          <p:cNvSpPr txBox="1"/>
          <p:nvPr/>
        </p:nvSpPr>
        <p:spPr>
          <a:xfrm>
            <a:off x="7529125" y="398026"/>
            <a:ext cx="442580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Equal parameter ratio (~0.527)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Full-matrix consistently better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Per-head breaks cross-head semantic interaction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MRPC collapse illustrates structural bottleneck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5645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5D6B4-1179-B0B7-D936-F4AD42AB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MRPC Structural Collapse</a:t>
            </a:r>
            <a:endParaRPr lang="zh-CN" altLang="en-US" dirty="0"/>
          </a:p>
        </p:txBody>
      </p:sp>
      <p:pic>
        <p:nvPicPr>
          <p:cNvPr id="5" name="内容占位符 4" descr="图表, 折线图&#10;&#10;AI 生成的内容可能不正确。">
            <a:extLst>
              <a:ext uri="{FF2B5EF4-FFF2-40B4-BE49-F238E27FC236}">
                <a16:creationId xmlns:a16="http://schemas.microsoft.com/office/drawing/2014/main" id="{371E987C-2585-1661-7016-5D1221B57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89" y="1783644"/>
            <a:ext cx="6096001" cy="331636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1BC7B60-C22C-C76C-15C6-C44C442380ED}"/>
              </a:ext>
            </a:extLst>
          </p:cNvPr>
          <p:cNvSpPr txBox="1"/>
          <p:nvPr/>
        </p:nvSpPr>
        <p:spPr>
          <a:xfrm>
            <a:off x="6807200" y="1399822"/>
            <a:ext cx="49671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P</a:t>
            </a:r>
            <a:r>
              <a:rPr lang="zh-CN" altLang="zh-CN" sz="2000" dirty="0">
                <a:latin typeface="Arial" panose="020B0604020202020204" pitchFamily="34" charset="0"/>
              </a:rPr>
              <a:t>er-head SVD/AdaSVD F1 ≈ 0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Full-matrix partially restores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Collapse caused by structural information bottleneck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</a:rPr>
              <a:t>Naive and Flash produce identical task metrics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2B8706-95EA-28B7-9DDF-DB61C9F5E4FE}"/>
              </a:ext>
            </a:extLst>
          </p:cNvPr>
          <p:cNvSpPr txBox="1"/>
          <p:nvPr/>
        </p:nvSpPr>
        <p:spPr>
          <a:xfrm>
            <a:off x="6705601" y="4915342"/>
            <a:ext cx="5350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u="sng" dirty="0"/>
              <a:t>Independent of backend; identical metrics across kernels.</a:t>
            </a:r>
            <a:endParaRPr lang="zh-CN" alt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3702386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40289-38CC-65D3-6CEC-55E20FE2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System Design Space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B58C0-C653-1083-8821-11A60641A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Deployment space: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Compression Method × Rank × Backend × </a:t>
            </a:r>
            <a:r>
              <a:rPr lang="en-US" altLang="zh-CN" dirty="0" err="1"/>
              <a:t>Dtype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Backend orthogonal to compression method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/>
              <a:t>FlashSVD</a:t>
            </a:r>
            <a:r>
              <a:rPr lang="en-US" altLang="zh-CN" dirty="0"/>
              <a:t> is plug-and-play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Any naive model can be shifted to Flash without retraining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Flash + bf16 = Pareto-dominant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727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591E8-8A74-8CCA-17CD-07F74901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Benchmark Pipeline Contribution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C58D57-2A44-F72D-66AB-E4477C2DC2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8613"/>
            <a:ext cx="8786175" cy="482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000" b="1" dirty="0"/>
              <a:t>1️⃣ Isolation</a:t>
            </a:r>
          </a:p>
          <a:p>
            <a:r>
              <a:rPr lang="en-US" altLang="zh-CN" sz="2000" dirty="0"/>
              <a:t>Synthetic microbenchmark removes data pipeline noise</a:t>
            </a:r>
          </a:p>
          <a:p>
            <a:r>
              <a:rPr lang="en-US" altLang="zh-CN" sz="2000" dirty="0"/>
              <a:t>Kernel-level measurement</a:t>
            </a:r>
          </a:p>
          <a:p>
            <a:r>
              <a:rPr lang="en-US" altLang="zh-CN" sz="2000" b="1" dirty="0"/>
              <a:t>2️⃣ Measurement correctness</a:t>
            </a:r>
          </a:p>
          <a:p>
            <a:r>
              <a:rPr lang="en-US" altLang="zh-CN" sz="2000" dirty="0"/>
              <a:t>Warmup stabilization</a:t>
            </a:r>
          </a:p>
          <a:p>
            <a:r>
              <a:rPr lang="en-US" altLang="zh-CN" sz="2000" dirty="0" err="1"/>
              <a:t>torch.cuda.reset_peak_memory_stats</a:t>
            </a:r>
            <a:r>
              <a:rPr lang="en-US" altLang="zh-CN" sz="2000" dirty="0"/>
              <a:t>()</a:t>
            </a:r>
          </a:p>
          <a:p>
            <a:r>
              <a:rPr lang="en-US" altLang="zh-CN" sz="2000" dirty="0"/>
              <a:t>Peak inference memory isolation</a:t>
            </a:r>
          </a:p>
          <a:p>
            <a:r>
              <a:rPr lang="en-US" altLang="zh-CN" sz="2000" b="1" dirty="0"/>
              <a:t>3️⃣ Automation</a:t>
            </a:r>
          </a:p>
          <a:p>
            <a:r>
              <a:rPr lang="en-US" altLang="zh-CN" sz="2000" dirty="0"/>
              <a:t>Backend toggle without recompression</a:t>
            </a:r>
          </a:p>
          <a:p>
            <a:r>
              <a:rPr lang="en-US" altLang="zh-CN" sz="2000" dirty="0"/>
              <a:t>Seq / batch / </a:t>
            </a:r>
            <a:r>
              <a:rPr lang="en-US" altLang="zh-CN" sz="2000" dirty="0" err="1"/>
              <a:t>dtype</a:t>
            </a:r>
            <a:r>
              <a:rPr lang="en-US" altLang="zh-CN" sz="2000" dirty="0"/>
              <a:t> sweep</a:t>
            </a:r>
          </a:p>
          <a:p>
            <a:r>
              <a:rPr lang="en-US" altLang="zh-CN" sz="2000" b="1" dirty="0"/>
              <a:t>4️⃣ Safety</a:t>
            </a:r>
          </a:p>
          <a:p>
            <a:r>
              <a:rPr lang="en-US" altLang="zh-CN" sz="2000" dirty="0"/>
              <a:t>OOM-safe batch scaling</a:t>
            </a:r>
          </a:p>
        </p:txBody>
      </p:sp>
    </p:spTree>
    <p:extLst>
      <p:ext uri="{BB962C8B-B14F-4D97-AF65-F5344CB8AC3E}">
        <p14:creationId xmlns:p14="http://schemas.microsoft.com/office/powerpoint/2010/main" val="1052499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F04FF-3BC7-5151-B734-01EE9475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9D5878-061C-F461-6666-B1DAB0F8B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25680877-68EE-DF61-FF7B-323EAFED6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13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738</Words>
  <Application>Microsoft Office PowerPoint</Application>
  <PresentationFormat>宽屏</PresentationFormat>
  <Paragraphs>109</Paragraphs>
  <Slides>15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Office 主题​​</vt:lpstr>
      <vt:lpstr>FlashSVD: System-level Benchmark &amp; Kernel-tier Analysis</vt:lpstr>
      <vt:lpstr>Motivation: Why Backend Matters</vt:lpstr>
      <vt:lpstr>Fairness &amp; Baseline Clarification</vt:lpstr>
      <vt:lpstr>kernel-tier Memory (Single Config)</vt:lpstr>
      <vt:lpstr>Kernel-tier Throughput</vt:lpstr>
      <vt:lpstr>Memory Breakdown</vt:lpstr>
      <vt:lpstr>Sequence Length Scaling</vt:lpstr>
      <vt:lpstr>Throughput Scaling</vt:lpstr>
      <vt:lpstr>dtype × Backend Scaling</vt:lpstr>
      <vt:lpstr>Accuracy–Memory Pareto</vt:lpstr>
      <vt:lpstr>Per-head vs Full-matrix</vt:lpstr>
      <vt:lpstr>MRPC Structural Collapse</vt:lpstr>
      <vt:lpstr>System Design Space</vt:lpstr>
      <vt:lpstr>Benchmark Pipeline Contribution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Wenhao Wu</dc:creator>
  <cp:lastModifiedBy>Wenhao Wu</cp:lastModifiedBy>
  <cp:revision>3</cp:revision>
  <dcterms:created xsi:type="dcterms:W3CDTF">2026-02-26T17:18:55Z</dcterms:created>
  <dcterms:modified xsi:type="dcterms:W3CDTF">2026-02-26T19:27:29Z</dcterms:modified>
</cp:coreProperties>
</file>